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2192000" cy="6858000"/>
  <p:notesSz cx="6858000" cy="9144000"/>
  <p:embeddedFontLst>
    <p:embeddedFont>
      <p:font typeface="Canva Sans Bold" charset="1" panose="020B0803030501040103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18.png" Type="http://schemas.openxmlformats.org/officeDocument/2006/relationships/image"/><Relationship Id="rId13" Target="../media/image19.svg" Type="http://schemas.openxmlformats.org/officeDocument/2006/relationships/image"/><Relationship Id="rId14" Target="../media/image20.png" Type="http://schemas.openxmlformats.org/officeDocument/2006/relationships/image"/><Relationship Id="rId15" Target="../media/image21.svg" Type="http://schemas.openxmlformats.org/officeDocument/2006/relationships/image"/><Relationship Id="rId16" Target="../media/image22.png" Type="http://schemas.openxmlformats.org/officeDocument/2006/relationships/image"/><Relationship Id="rId17" Target="../media/image23.svg" Type="http://schemas.openxmlformats.org/officeDocument/2006/relationships/image"/><Relationship Id="rId18" Target="../media/image24.png" Type="http://schemas.openxmlformats.org/officeDocument/2006/relationships/image"/><Relationship Id="rId19" Target="../media/image25.svg" Type="http://schemas.openxmlformats.org/officeDocument/2006/relationships/image"/><Relationship Id="rId2" Target="../media/image4.png" Type="http://schemas.openxmlformats.org/officeDocument/2006/relationships/image"/><Relationship Id="rId20" Target="../media/image26.png" Type="http://schemas.openxmlformats.org/officeDocument/2006/relationships/image"/><Relationship Id="rId21" Target="../media/image27.svg" Type="http://schemas.openxmlformats.org/officeDocument/2006/relationships/image"/><Relationship Id="rId22" Target="../media/image28.png" Type="http://schemas.openxmlformats.org/officeDocument/2006/relationships/image"/><Relationship Id="rId23" Target="../media/image29.svg" Type="http://schemas.openxmlformats.org/officeDocument/2006/relationships/image"/><Relationship Id="rId24" Target="../media/image30.png" Type="http://schemas.openxmlformats.org/officeDocument/2006/relationships/image"/><Relationship Id="rId25" Target="../media/image31.svg" Type="http://schemas.openxmlformats.org/officeDocument/2006/relationships/image"/><Relationship Id="rId3" Target="../media/image5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296" r="0" b="-1448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64849">
            <a:off x="-4372659" y="-2045590"/>
            <a:ext cx="7478862" cy="8592278"/>
          </a:xfrm>
          <a:custGeom>
            <a:avLst/>
            <a:gdLst/>
            <a:ahLst/>
            <a:cxnLst/>
            <a:rect r="r" b="b" t="t" l="l"/>
            <a:pathLst>
              <a:path h="8592278" w="7478862">
                <a:moveTo>
                  <a:pt x="0" y="0"/>
                </a:moveTo>
                <a:lnTo>
                  <a:pt x="7478862" y="0"/>
                </a:lnTo>
                <a:lnTo>
                  <a:pt x="7478862" y="8592278"/>
                </a:lnTo>
                <a:lnTo>
                  <a:pt x="0" y="85922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8271326" y="-1303965"/>
            <a:ext cx="7478862" cy="8592278"/>
          </a:xfrm>
          <a:custGeom>
            <a:avLst/>
            <a:gdLst/>
            <a:ahLst/>
            <a:cxnLst/>
            <a:rect r="r" b="b" t="t" l="l"/>
            <a:pathLst>
              <a:path h="8592278" w="7478862">
                <a:moveTo>
                  <a:pt x="0" y="8592278"/>
                </a:moveTo>
                <a:lnTo>
                  <a:pt x="7478862" y="8592278"/>
                </a:lnTo>
                <a:lnTo>
                  <a:pt x="7478862" y="0"/>
                </a:lnTo>
                <a:lnTo>
                  <a:pt x="0" y="0"/>
                </a:lnTo>
                <a:lnTo>
                  <a:pt x="0" y="8592278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82649" y="245927"/>
            <a:ext cx="11826701" cy="6366145"/>
            <a:chOff x="0" y="0"/>
            <a:chExt cx="4672277" cy="25150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72277" cy="2515020"/>
            </a:xfrm>
            <a:custGeom>
              <a:avLst/>
              <a:gdLst/>
              <a:ahLst/>
              <a:cxnLst/>
              <a:rect r="r" b="b" t="t" l="l"/>
              <a:pathLst>
                <a:path h="2515020" w="4672277">
                  <a:moveTo>
                    <a:pt x="0" y="0"/>
                  </a:moveTo>
                  <a:lnTo>
                    <a:pt x="4672277" y="0"/>
                  </a:lnTo>
                  <a:lnTo>
                    <a:pt x="4672277" y="2515020"/>
                  </a:lnTo>
                  <a:lnTo>
                    <a:pt x="0" y="25150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672277" cy="2543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  <a:p>
              <a:pPr algn="ctr">
                <a:lnSpc>
                  <a:spcPts val="2256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84457" y="644705"/>
            <a:ext cx="2521071" cy="2044789"/>
          </a:xfrm>
          <a:custGeom>
            <a:avLst/>
            <a:gdLst/>
            <a:ahLst/>
            <a:cxnLst/>
            <a:rect r="r" b="b" t="t" l="l"/>
            <a:pathLst>
              <a:path h="2044789" w="2521071">
                <a:moveTo>
                  <a:pt x="0" y="0"/>
                </a:moveTo>
                <a:lnTo>
                  <a:pt x="2521072" y="0"/>
                </a:lnTo>
                <a:lnTo>
                  <a:pt x="2521072" y="2044789"/>
                </a:lnTo>
                <a:lnTo>
                  <a:pt x="0" y="20447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695" t="0" r="-2256" b="-22675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745208" y="3691009"/>
            <a:ext cx="1865473" cy="679882"/>
            <a:chOff x="0" y="0"/>
            <a:chExt cx="731697" cy="2666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1697" cy="266671"/>
            </a:xfrm>
            <a:custGeom>
              <a:avLst/>
              <a:gdLst/>
              <a:ahLst/>
              <a:cxnLst/>
              <a:rect r="r" b="b" t="t" l="l"/>
              <a:pathLst>
                <a:path h="266671" w="731697">
                  <a:moveTo>
                    <a:pt x="0" y="0"/>
                  </a:moveTo>
                  <a:lnTo>
                    <a:pt x="731697" y="0"/>
                  </a:lnTo>
                  <a:lnTo>
                    <a:pt x="731697" y="266671"/>
                  </a:lnTo>
                  <a:lnTo>
                    <a:pt x="0" y="266671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73737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731697" cy="295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r>
                <a:rPr lang="en-US" b="true" sz="13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LOAN ANALYSIS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797010" y="3691009"/>
            <a:ext cx="1972573" cy="679882"/>
            <a:chOff x="0" y="0"/>
            <a:chExt cx="773705" cy="2666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3705" cy="266671"/>
            </a:xfrm>
            <a:custGeom>
              <a:avLst/>
              <a:gdLst/>
              <a:ahLst/>
              <a:cxnLst/>
              <a:rect r="r" b="b" t="t" l="l"/>
              <a:pathLst>
                <a:path h="266671" w="773705">
                  <a:moveTo>
                    <a:pt x="0" y="0"/>
                  </a:moveTo>
                  <a:lnTo>
                    <a:pt x="773705" y="0"/>
                  </a:lnTo>
                  <a:lnTo>
                    <a:pt x="773705" y="266671"/>
                  </a:lnTo>
                  <a:lnTo>
                    <a:pt x="0" y="266671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73737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773705" cy="295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r>
                <a:rPr lang="en-US" b="true" sz="13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DEPOSIT ANALYSIS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76091" y="4716895"/>
            <a:ext cx="1937804" cy="679882"/>
            <a:chOff x="0" y="0"/>
            <a:chExt cx="760067" cy="26667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60067" cy="266671"/>
            </a:xfrm>
            <a:custGeom>
              <a:avLst/>
              <a:gdLst/>
              <a:ahLst/>
              <a:cxnLst/>
              <a:rect r="r" b="b" t="t" l="l"/>
              <a:pathLst>
                <a:path h="266671" w="760067">
                  <a:moveTo>
                    <a:pt x="0" y="0"/>
                  </a:moveTo>
                  <a:lnTo>
                    <a:pt x="760067" y="0"/>
                  </a:lnTo>
                  <a:lnTo>
                    <a:pt x="760067" y="266671"/>
                  </a:lnTo>
                  <a:lnTo>
                    <a:pt x="0" y="266671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73737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760067" cy="295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r>
                <a:rPr lang="en-US" b="true" sz="13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SUMMARY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128484" y="1098129"/>
            <a:ext cx="6619174" cy="858956"/>
            <a:chOff x="0" y="0"/>
            <a:chExt cx="2596246" cy="33690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96246" cy="336909"/>
            </a:xfrm>
            <a:custGeom>
              <a:avLst/>
              <a:gdLst/>
              <a:ahLst/>
              <a:cxnLst/>
              <a:rect r="r" b="b" t="t" l="l"/>
              <a:pathLst>
                <a:path h="336909" w="2596246">
                  <a:moveTo>
                    <a:pt x="0" y="0"/>
                  </a:moveTo>
                  <a:lnTo>
                    <a:pt x="2596246" y="0"/>
                  </a:lnTo>
                  <a:lnTo>
                    <a:pt x="2596246" y="336909"/>
                  </a:lnTo>
                  <a:lnTo>
                    <a:pt x="0" y="3369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596246" cy="375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110077" y="2061861"/>
            <a:ext cx="3327994" cy="1372310"/>
            <a:chOff x="0" y="0"/>
            <a:chExt cx="1305343" cy="53826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05343" cy="538263"/>
            </a:xfrm>
            <a:custGeom>
              <a:avLst/>
              <a:gdLst/>
              <a:ahLst/>
              <a:cxnLst/>
              <a:rect r="r" b="b" t="t" l="l"/>
              <a:pathLst>
                <a:path h="538263" w="1305343">
                  <a:moveTo>
                    <a:pt x="0" y="0"/>
                  </a:moveTo>
                  <a:lnTo>
                    <a:pt x="1305343" y="0"/>
                  </a:lnTo>
                  <a:lnTo>
                    <a:pt x="1305343" y="538263"/>
                  </a:lnTo>
                  <a:lnTo>
                    <a:pt x="0" y="5382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305343" cy="576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579613" y="2061861"/>
            <a:ext cx="3168046" cy="1372310"/>
            <a:chOff x="0" y="0"/>
            <a:chExt cx="1242606" cy="53826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42606" cy="538263"/>
            </a:xfrm>
            <a:custGeom>
              <a:avLst/>
              <a:gdLst/>
              <a:ahLst/>
              <a:cxnLst/>
              <a:rect r="r" b="b" t="t" l="l"/>
              <a:pathLst>
                <a:path h="538263" w="1242606">
                  <a:moveTo>
                    <a:pt x="0" y="0"/>
                  </a:moveTo>
                  <a:lnTo>
                    <a:pt x="1242606" y="0"/>
                  </a:lnTo>
                  <a:lnTo>
                    <a:pt x="1242606" y="538263"/>
                  </a:lnTo>
                  <a:lnTo>
                    <a:pt x="0" y="5382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242606" cy="576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110077" y="3538946"/>
            <a:ext cx="3327994" cy="1385232"/>
            <a:chOff x="0" y="0"/>
            <a:chExt cx="1305343" cy="54333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05343" cy="543331"/>
            </a:xfrm>
            <a:custGeom>
              <a:avLst/>
              <a:gdLst/>
              <a:ahLst/>
              <a:cxnLst/>
              <a:rect r="r" b="b" t="t" l="l"/>
              <a:pathLst>
                <a:path h="543331" w="1305343">
                  <a:moveTo>
                    <a:pt x="0" y="0"/>
                  </a:moveTo>
                  <a:lnTo>
                    <a:pt x="1305343" y="0"/>
                  </a:lnTo>
                  <a:lnTo>
                    <a:pt x="1305343" y="543331"/>
                  </a:lnTo>
                  <a:lnTo>
                    <a:pt x="0" y="5433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305343" cy="581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091670" y="5028953"/>
            <a:ext cx="3327994" cy="1351252"/>
            <a:chOff x="0" y="0"/>
            <a:chExt cx="1305343" cy="53000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05343" cy="530003"/>
            </a:xfrm>
            <a:custGeom>
              <a:avLst/>
              <a:gdLst/>
              <a:ahLst/>
              <a:cxnLst/>
              <a:rect r="r" b="b" t="t" l="l"/>
              <a:pathLst>
                <a:path h="530003" w="1305343">
                  <a:moveTo>
                    <a:pt x="0" y="0"/>
                  </a:moveTo>
                  <a:lnTo>
                    <a:pt x="1305343" y="0"/>
                  </a:lnTo>
                  <a:lnTo>
                    <a:pt x="1305343" y="530003"/>
                  </a:lnTo>
                  <a:lnTo>
                    <a:pt x="0" y="5300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305343" cy="5681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561206" y="3538946"/>
            <a:ext cx="3168046" cy="1385232"/>
            <a:chOff x="0" y="0"/>
            <a:chExt cx="1242606" cy="54333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42606" cy="543331"/>
            </a:xfrm>
            <a:custGeom>
              <a:avLst/>
              <a:gdLst/>
              <a:ahLst/>
              <a:cxnLst/>
              <a:rect r="r" b="b" t="t" l="l"/>
              <a:pathLst>
                <a:path h="543331" w="1242606">
                  <a:moveTo>
                    <a:pt x="0" y="0"/>
                  </a:moveTo>
                  <a:lnTo>
                    <a:pt x="1242606" y="0"/>
                  </a:lnTo>
                  <a:lnTo>
                    <a:pt x="1242606" y="543331"/>
                  </a:lnTo>
                  <a:lnTo>
                    <a:pt x="0" y="5433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242606" cy="581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561206" y="5028953"/>
            <a:ext cx="3168046" cy="1351252"/>
            <a:chOff x="0" y="0"/>
            <a:chExt cx="1242606" cy="53000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42606" cy="530003"/>
            </a:xfrm>
            <a:custGeom>
              <a:avLst/>
              <a:gdLst/>
              <a:ahLst/>
              <a:cxnLst/>
              <a:rect r="r" b="b" t="t" l="l"/>
              <a:pathLst>
                <a:path h="530003" w="1242606">
                  <a:moveTo>
                    <a:pt x="0" y="0"/>
                  </a:moveTo>
                  <a:lnTo>
                    <a:pt x="1242606" y="0"/>
                  </a:lnTo>
                  <a:lnTo>
                    <a:pt x="1242606" y="530003"/>
                  </a:lnTo>
                  <a:lnTo>
                    <a:pt x="0" y="5300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242606" cy="5681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110077" y="421250"/>
            <a:ext cx="6637581" cy="572104"/>
            <a:chOff x="0" y="0"/>
            <a:chExt cx="2603466" cy="22439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603466" cy="224397"/>
            </a:xfrm>
            <a:custGeom>
              <a:avLst/>
              <a:gdLst/>
              <a:ahLst/>
              <a:cxnLst/>
              <a:rect r="r" b="b" t="t" l="l"/>
              <a:pathLst>
                <a:path h="224397" w="2603466">
                  <a:moveTo>
                    <a:pt x="0" y="0"/>
                  </a:moveTo>
                  <a:lnTo>
                    <a:pt x="2603466" y="0"/>
                  </a:lnTo>
                  <a:lnTo>
                    <a:pt x="2603466" y="224397"/>
                  </a:lnTo>
                  <a:lnTo>
                    <a:pt x="0" y="2243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2603466" cy="2624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7442077" y="2670102"/>
            <a:ext cx="829249" cy="609121"/>
          </a:xfrm>
          <a:custGeom>
            <a:avLst/>
            <a:gdLst/>
            <a:ahLst/>
            <a:cxnLst/>
            <a:rect r="r" b="b" t="t" l="l"/>
            <a:pathLst>
              <a:path h="609121" w="829249">
                <a:moveTo>
                  <a:pt x="0" y="0"/>
                </a:moveTo>
                <a:lnTo>
                  <a:pt x="829249" y="0"/>
                </a:lnTo>
                <a:lnTo>
                  <a:pt x="829249" y="609121"/>
                </a:lnTo>
                <a:lnTo>
                  <a:pt x="0" y="6091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0893167" y="2561141"/>
            <a:ext cx="630026" cy="712130"/>
          </a:xfrm>
          <a:custGeom>
            <a:avLst/>
            <a:gdLst/>
            <a:ahLst/>
            <a:cxnLst/>
            <a:rect r="r" b="b" t="t" l="l"/>
            <a:pathLst>
              <a:path h="712130" w="630026">
                <a:moveTo>
                  <a:pt x="0" y="0"/>
                </a:moveTo>
                <a:lnTo>
                  <a:pt x="630026" y="0"/>
                </a:lnTo>
                <a:lnTo>
                  <a:pt x="630026" y="712130"/>
                </a:lnTo>
                <a:lnTo>
                  <a:pt x="0" y="7121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7541854" y="4035975"/>
            <a:ext cx="729472" cy="729472"/>
          </a:xfrm>
          <a:custGeom>
            <a:avLst/>
            <a:gdLst/>
            <a:ahLst/>
            <a:cxnLst/>
            <a:rect r="r" b="b" t="t" l="l"/>
            <a:pathLst>
              <a:path h="729472" w="729472">
                <a:moveTo>
                  <a:pt x="0" y="0"/>
                </a:moveTo>
                <a:lnTo>
                  <a:pt x="729472" y="0"/>
                </a:lnTo>
                <a:lnTo>
                  <a:pt x="729472" y="729472"/>
                </a:lnTo>
                <a:lnTo>
                  <a:pt x="0" y="72947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0933621" y="4084526"/>
            <a:ext cx="628923" cy="680920"/>
          </a:xfrm>
          <a:custGeom>
            <a:avLst/>
            <a:gdLst/>
            <a:ahLst/>
            <a:cxnLst/>
            <a:rect r="r" b="b" t="t" l="l"/>
            <a:pathLst>
              <a:path h="680920" w="628923">
                <a:moveTo>
                  <a:pt x="0" y="0"/>
                </a:moveTo>
                <a:lnTo>
                  <a:pt x="628923" y="0"/>
                </a:lnTo>
                <a:lnTo>
                  <a:pt x="628923" y="680921"/>
                </a:lnTo>
                <a:lnTo>
                  <a:pt x="0" y="68092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7563650" y="5542420"/>
            <a:ext cx="707676" cy="656057"/>
          </a:xfrm>
          <a:custGeom>
            <a:avLst/>
            <a:gdLst/>
            <a:ahLst/>
            <a:cxnLst/>
            <a:rect r="r" b="b" t="t" l="l"/>
            <a:pathLst>
              <a:path h="656057" w="707676">
                <a:moveTo>
                  <a:pt x="0" y="0"/>
                </a:moveTo>
                <a:lnTo>
                  <a:pt x="707676" y="0"/>
                </a:lnTo>
                <a:lnTo>
                  <a:pt x="707676" y="656057"/>
                </a:lnTo>
                <a:lnTo>
                  <a:pt x="0" y="65605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0911948" y="5616752"/>
            <a:ext cx="672270" cy="663714"/>
          </a:xfrm>
          <a:custGeom>
            <a:avLst/>
            <a:gdLst/>
            <a:ahLst/>
            <a:cxnLst/>
            <a:rect r="r" b="b" t="t" l="l"/>
            <a:pathLst>
              <a:path h="663714" w="672270">
                <a:moveTo>
                  <a:pt x="0" y="0"/>
                </a:moveTo>
                <a:lnTo>
                  <a:pt x="672270" y="0"/>
                </a:lnTo>
                <a:lnTo>
                  <a:pt x="672270" y="663714"/>
                </a:lnTo>
                <a:lnTo>
                  <a:pt x="0" y="66371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472905" y="2883039"/>
            <a:ext cx="4436484" cy="517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0"/>
              </a:lnSpc>
            </a:pPr>
            <a:r>
              <a:rPr lang="en-US" sz="302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BANKING DASHBOARD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566443" y="1358683"/>
            <a:ext cx="752995" cy="265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6"/>
              </a:lnSpc>
            </a:pPr>
            <a:r>
              <a:rPr lang="en-US" sz="16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Gender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282672" y="2204736"/>
            <a:ext cx="1059013" cy="265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6"/>
              </a:lnSpc>
            </a:pPr>
            <a:r>
              <a:rPr lang="en-US" sz="16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Total Loan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006673" y="3732451"/>
            <a:ext cx="1355224" cy="265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6"/>
              </a:lnSpc>
            </a:pPr>
            <a:r>
              <a:rPr lang="en-US" sz="16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Total Deposit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758329" y="5171828"/>
            <a:ext cx="1783525" cy="265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6"/>
              </a:lnSpc>
            </a:pPr>
            <a:r>
              <a:rPr lang="en-US" sz="16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Savings Accounts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089412" y="2204736"/>
            <a:ext cx="1272486" cy="265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6"/>
              </a:lnSpc>
            </a:pPr>
            <a:r>
              <a:rPr lang="en-US" sz="16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Total Clients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171694" y="5171828"/>
            <a:ext cx="1761927" cy="265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6"/>
              </a:lnSpc>
            </a:pPr>
            <a:r>
              <a:rPr lang="en-US" sz="16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Business Lending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968893" y="3662434"/>
            <a:ext cx="1943055" cy="265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6"/>
              </a:lnSpc>
            </a:pPr>
            <a:r>
              <a:rPr lang="en-US" sz="16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Checking Accounts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466345" y="560106"/>
            <a:ext cx="1259310" cy="265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6"/>
              </a:lnSpc>
            </a:pPr>
            <a:r>
              <a:rPr lang="en-US" sz="16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Joining Year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6657" y="371599"/>
            <a:ext cx="11518686" cy="6114802"/>
            <a:chOff x="0" y="0"/>
            <a:chExt cx="4550592" cy="24157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50592" cy="2415724"/>
            </a:xfrm>
            <a:custGeom>
              <a:avLst/>
              <a:gdLst/>
              <a:ahLst/>
              <a:cxnLst/>
              <a:rect r="r" b="b" t="t" l="l"/>
              <a:pathLst>
                <a:path h="2415724" w="4550592">
                  <a:moveTo>
                    <a:pt x="0" y="0"/>
                  </a:moveTo>
                  <a:lnTo>
                    <a:pt x="4550592" y="0"/>
                  </a:lnTo>
                  <a:lnTo>
                    <a:pt x="4550592" y="2415724"/>
                  </a:lnTo>
                  <a:lnTo>
                    <a:pt x="0" y="24157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550592" cy="2444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00459" y="1044780"/>
            <a:ext cx="10991082" cy="1101622"/>
            <a:chOff x="0" y="0"/>
            <a:chExt cx="4311044" cy="4320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1044" cy="432091"/>
            </a:xfrm>
            <a:custGeom>
              <a:avLst/>
              <a:gdLst/>
              <a:ahLst/>
              <a:cxnLst/>
              <a:rect r="r" b="b" t="t" l="l"/>
              <a:pathLst>
                <a:path h="432091" w="4311044">
                  <a:moveTo>
                    <a:pt x="0" y="0"/>
                  </a:moveTo>
                  <a:lnTo>
                    <a:pt x="4311044" y="0"/>
                  </a:lnTo>
                  <a:lnTo>
                    <a:pt x="4311044" y="432091"/>
                  </a:lnTo>
                  <a:lnTo>
                    <a:pt x="0" y="43209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1044" cy="4701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48311" y="431215"/>
            <a:ext cx="4043230" cy="509170"/>
            <a:chOff x="0" y="0"/>
            <a:chExt cx="1585881" cy="199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85881" cy="199712"/>
            </a:xfrm>
            <a:custGeom>
              <a:avLst/>
              <a:gdLst/>
              <a:ahLst/>
              <a:cxnLst/>
              <a:rect r="r" b="b" t="t" l="l"/>
              <a:pathLst>
                <a:path h="199712" w="1585881">
                  <a:moveTo>
                    <a:pt x="0" y="0"/>
                  </a:moveTo>
                  <a:lnTo>
                    <a:pt x="1585881" y="0"/>
                  </a:lnTo>
                  <a:lnTo>
                    <a:pt x="1585881" y="199712"/>
                  </a:lnTo>
                  <a:lnTo>
                    <a:pt x="0" y="1997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85881" cy="237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00459" y="2207441"/>
            <a:ext cx="2774525" cy="1101622"/>
            <a:chOff x="0" y="0"/>
            <a:chExt cx="1088255" cy="4320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88255" cy="432091"/>
            </a:xfrm>
            <a:custGeom>
              <a:avLst/>
              <a:gdLst/>
              <a:ahLst/>
              <a:cxnLst/>
              <a:rect r="r" b="b" t="t" l="l"/>
              <a:pathLst>
                <a:path h="432091" w="1088255">
                  <a:moveTo>
                    <a:pt x="0" y="0"/>
                  </a:moveTo>
                  <a:lnTo>
                    <a:pt x="1088255" y="0"/>
                  </a:lnTo>
                  <a:lnTo>
                    <a:pt x="1088255" y="432091"/>
                  </a:lnTo>
                  <a:lnTo>
                    <a:pt x="0" y="43209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88255" cy="4701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817487" y="2251178"/>
            <a:ext cx="2774054" cy="4171699"/>
            <a:chOff x="0" y="0"/>
            <a:chExt cx="1088070" cy="16362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88070" cy="1636270"/>
            </a:xfrm>
            <a:custGeom>
              <a:avLst/>
              <a:gdLst/>
              <a:ahLst/>
              <a:cxnLst/>
              <a:rect r="r" b="b" t="t" l="l"/>
              <a:pathLst>
                <a:path h="1636270" w="1088070">
                  <a:moveTo>
                    <a:pt x="0" y="0"/>
                  </a:moveTo>
                  <a:lnTo>
                    <a:pt x="1088070" y="0"/>
                  </a:lnTo>
                  <a:lnTo>
                    <a:pt x="1088070" y="1636270"/>
                  </a:lnTo>
                  <a:lnTo>
                    <a:pt x="0" y="16362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88070" cy="1674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439685" y="2207441"/>
            <a:ext cx="2738619" cy="1101622"/>
            <a:chOff x="0" y="0"/>
            <a:chExt cx="1074171" cy="4320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4171" cy="432091"/>
            </a:xfrm>
            <a:custGeom>
              <a:avLst/>
              <a:gdLst/>
              <a:ahLst/>
              <a:cxnLst/>
              <a:rect r="r" b="b" t="t" l="l"/>
              <a:pathLst>
                <a:path h="432091" w="1074171">
                  <a:moveTo>
                    <a:pt x="0" y="0"/>
                  </a:moveTo>
                  <a:lnTo>
                    <a:pt x="1074171" y="0"/>
                  </a:lnTo>
                  <a:lnTo>
                    <a:pt x="1074171" y="432091"/>
                  </a:lnTo>
                  <a:lnTo>
                    <a:pt x="0" y="43209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74171" cy="4701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263823" y="2213078"/>
            <a:ext cx="2469131" cy="2086821"/>
            <a:chOff x="0" y="0"/>
            <a:chExt cx="968470" cy="8185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68470" cy="818516"/>
            </a:xfrm>
            <a:custGeom>
              <a:avLst/>
              <a:gdLst/>
              <a:ahLst/>
              <a:cxnLst/>
              <a:rect r="r" b="b" t="t" l="l"/>
              <a:pathLst>
                <a:path h="818516" w="968470">
                  <a:moveTo>
                    <a:pt x="0" y="0"/>
                  </a:moveTo>
                  <a:lnTo>
                    <a:pt x="968470" y="0"/>
                  </a:lnTo>
                  <a:lnTo>
                    <a:pt x="968470" y="818516"/>
                  </a:lnTo>
                  <a:lnTo>
                    <a:pt x="0" y="8185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68470" cy="8566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245965" y="4412255"/>
            <a:ext cx="2450780" cy="2010621"/>
            <a:chOff x="0" y="0"/>
            <a:chExt cx="961272" cy="78862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61272" cy="788628"/>
            </a:xfrm>
            <a:custGeom>
              <a:avLst/>
              <a:gdLst/>
              <a:ahLst/>
              <a:cxnLst/>
              <a:rect r="r" b="b" t="t" l="l"/>
              <a:pathLst>
                <a:path h="788628" w="961272">
                  <a:moveTo>
                    <a:pt x="0" y="0"/>
                  </a:moveTo>
                  <a:lnTo>
                    <a:pt x="961272" y="0"/>
                  </a:lnTo>
                  <a:lnTo>
                    <a:pt x="961272" y="788628"/>
                  </a:lnTo>
                  <a:lnTo>
                    <a:pt x="0" y="7886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61272" cy="8267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00459" y="3429000"/>
            <a:ext cx="2774525" cy="1101622"/>
            <a:chOff x="0" y="0"/>
            <a:chExt cx="1088255" cy="43209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88255" cy="432091"/>
            </a:xfrm>
            <a:custGeom>
              <a:avLst/>
              <a:gdLst/>
              <a:ahLst/>
              <a:cxnLst/>
              <a:rect r="r" b="b" t="t" l="l"/>
              <a:pathLst>
                <a:path h="432091" w="1088255">
                  <a:moveTo>
                    <a:pt x="0" y="0"/>
                  </a:moveTo>
                  <a:lnTo>
                    <a:pt x="1088255" y="0"/>
                  </a:lnTo>
                  <a:lnTo>
                    <a:pt x="1088255" y="432091"/>
                  </a:lnTo>
                  <a:lnTo>
                    <a:pt x="0" y="43209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088255" cy="4701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439685" y="3429000"/>
            <a:ext cx="2739606" cy="1101622"/>
            <a:chOff x="0" y="0"/>
            <a:chExt cx="1074558" cy="43209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4558" cy="432091"/>
            </a:xfrm>
            <a:custGeom>
              <a:avLst/>
              <a:gdLst/>
              <a:ahLst/>
              <a:cxnLst/>
              <a:rect r="r" b="b" t="t" l="l"/>
              <a:pathLst>
                <a:path h="432091" w="1074558">
                  <a:moveTo>
                    <a:pt x="0" y="0"/>
                  </a:moveTo>
                  <a:lnTo>
                    <a:pt x="1074558" y="0"/>
                  </a:lnTo>
                  <a:lnTo>
                    <a:pt x="1074558" y="432091"/>
                  </a:lnTo>
                  <a:lnTo>
                    <a:pt x="0" y="43209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074558" cy="4701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00459" y="4654447"/>
            <a:ext cx="5538346" cy="1768429"/>
            <a:chOff x="0" y="0"/>
            <a:chExt cx="2172312" cy="69363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72312" cy="693633"/>
            </a:xfrm>
            <a:custGeom>
              <a:avLst/>
              <a:gdLst/>
              <a:ahLst/>
              <a:cxnLst/>
              <a:rect r="r" b="b" t="t" l="l"/>
              <a:pathLst>
                <a:path h="693633" w="2172312">
                  <a:moveTo>
                    <a:pt x="0" y="0"/>
                  </a:moveTo>
                  <a:lnTo>
                    <a:pt x="2172312" y="0"/>
                  </a:lnTo>
                  <a:lnTo>
                    <a:pt x="2172312" y="693633"/>
                  </a:lnTo>
                  <a:lnTo>
                    <a:pt x="0" y="6936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172312" cy="731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892471" y="486736"/>
            <a:ext cx="1713797" cy="453649"/>
            <a:chOff x="0" y="0"/>
            <a:chExt cx="672205" cy="17793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72205" cy="177935"/>
            </a:xfrm>
            <a:custGeom>
              <a:avLst/>
              <a:gdLst/>
              <a:ahLst/>
              <a:cxnLst/>
              <a:rect r="r" b="b" t="t" l="l"/>
              <a:pathLst>
                <a:path h="177935" w="672205">
                  <a:moveTo>
                    <a:pt x="0" y="0"/>
                  </a:moveTo>
                  <a:lnTo>
                    <a:pt x="672205" y="0"/>
                  </a:lnTo>
                  <a:lnTo>
                    <a:pt x="672205" y="177935"/>
                  </a:lnTo>
                  <a:lnTo>
                    <a:pt x="0" y="177935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73737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672205" cy="206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r>
                <a:rPr lang="en-US" b="true" sz="13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LOAN ANALYSIS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858362" y="431215"/>
            <a:ext cx="1950388" cy="453649"/>
            <a:chOff x="0" y="0"/>
            <a:chExt cx="765003" cy="17793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65003" cy="177935"/>
            </a:xfrm>
            <a:custGeom>
              <a:avLst/>
              <a:gdLst/>
              <a:ahLst/>
              <a:cxnLst/>
              <a:rect r="r" b="b" t="t" l="l"/>
              <a:pathLst>
                <a:path h="177935" w="765003">
                  <a:moveTo>
                    <a:pt x="0" y="0"/>
                  </a:moveTo>
                  <a:lnTo>
                    <a:pt x="765003" y="0"/>
                  </a:lnTo>
                  <a:lnTo>
                    <a:pt x="765003" y="177935"/>
                  </a:lnTo>
                  <a:lnTo>
                    <a:pt x="0" y="17793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765003" cy="206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r>
                <a:rPr lang="en-US" b="true" sz="13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DEPOSIT ANALYSDIS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85800" y="473136"/>
            <a:ext cx="1206671" cy="447820"/>
            <a:chOff x="0" y="0"/>
            <a:chExt cx="476710" cy="17691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76710" cy="176916"/>
            </a:xfrm>
            <a:custGeom>
              <a:avLst/>
              <a:gdLst/>
              <a:ahLst/>
              <a:cxnLst/>
              <a:rect r="r" b="b" t="t" l="l"/>
              <a:pathLst>
                <a:path h="176916" w="476710">
                  <a:moveTo>
                    <a:pt x="0" y="0"/>
                  </a:moveTo>
                  <a:lnTo>
                    <a:pt x="476710" y="0"/>
                  </a:lnTo>
                  <a:lnTo>
                    <a:pt x="476710" y="176916"/>
                  </a:lnTo>
                  <a:lnTo>
                    <a:pt x="0" y="17691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476710" cy="205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  <a:r>
                <a:rPr lang="en-US" b="true" sz="161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HOME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338195" y="2358303"/>
            <a:ext cx="1272486" cy="265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6"/>
              </a:lnSpc>
            </a:pPr>
            <a:r>
              <a:rPr lang="en-US" sz="16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Total Loan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3796769" y="449988"/>
            <a:ext cx="2011982" cy="434876"/>
            <a:chOff x="0" y="0"/>
            <a:chExt cx="794857" cy="17180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94857" cy="171803"/>
            </a:xfrm>
            <a:custGeom>
              <a:avLst/>
              <a:gdLst/>
              <a:ahLst/>
              <a:cxnLst/>
              <a:rect r="r" b="b" t="t" l="l"/>
              <a:pathLst>
                <a:path h="171803" w="794857">
                  <a:moveTo>
                    <a:pt x="0" y="0"/>
                  </a:moveTo>
                  <a:lnTo>
                    <a:pt x="794857" y="0"/>
                  </a:lnTo>
                  <a:lnTo>
                    <a:pt x="794857" y="171803"/>
                  </a:lnTo>
                  <a:lnTo>
                    <a:pt x="0" y="17180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794857" cy="200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  <a:r>
                <a:rPr lang="en-US" b="true" sz="161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DEPOSIT ANALYSIS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075195" y="431215"/>
            <a:ext cx="1206671" cy="447820"/>
            <a:chOff x="0" y="0"/>
            <a:chExt cx="476710" cy="1769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76710" cy="176916"/>
            </a:xfrm>
            <a:custGeom>
              <a:avLst/>
              <a:gdLst/>
              <a:ahLst/>
              <a:cxnLst/>
              <a:rect r="r" b="b" t="t" l="l"/>
              <a:pathLst>
                <a:path h="176916" w="476710">
                  <a:moveTo>
                    <a:pt x="0" y="0"/>
                  </a:moveTo>
                  <a:lnTo>
                    <a:pt x="476710" y="0"/>
                  </a:lnTo>
                  <a:lnTo>
                    <a:pt x="476710" y="176916"/>
                  </a:lnTo>
                  <a:lnTo>
                    <a:pt x="0" y="17691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476710" cy="205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16"/>
                </a:lnSpc>
              </a:pPr>
              <a:r>
                <a:rPr lang="en-US" b="true" sz="151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SUMMARY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4016197" y="3518613"/>
            <a:ext cx="1272486" cy="265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6"/>
              </a:lnSpc>
            </a:pPr>
            <a:r>
              <a:rPr lang="en-US" sz="16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CC Balance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77875" y="3518613"/>
            <a:ext cx="1793126" cy="265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6"/>
              </a:lnSpc>
            </a:pPr>
            <a:r>
              <a:rPr lang="en-US" sz="16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Business Lending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016197" y="2358303"/>
            <a:ext cx="1272486" cy="265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6"/>
              </a:lnSpc>
            </a:pPr>
            <a:r>
              <a:rPr lang="en-US" sz="16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Bank Loan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6327527" y="2358303"/>
            <a:ext cx="1711194" cy="25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6"/>
              </a:lnSpc>
            </a:pPr>
            <a:r>
              <a:rPr lang="en-US" sz="15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Bank Loan by BR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732649" y="4740172"/>
            <a:ext cx="3064120" cy="264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7"/>
              </a:lnSpc>
            </a:pPr>
            <a:r>
              <a:rPr lang="en-US" sz="159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Bank Loan By Income Band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6307501" y="4502047"/>
            <a:ext cx="2381776" cy="240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7"/>
              </a:lnSpc>
            </a:pPr>
            <a:r>
              <a:rPr lang="en-US" sz="139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Bank Loan By Nationality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998831" y="2367220"/>
            <a:ext cx="2411365" cy="25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6"/>
              </a:lnSpc>
            </a:pPr>
            <a:r>
              <a:rPr lang="en-US" sz="15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Bank Loan by Occupation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38195" y="1131999"/>
            <a:ext cx="2268074" cy="265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6"/>
              </a:lnSpc>
            </a:pPr>
            <a:r>
              <a:rPr lang="en-US" sz="16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Banking Relationship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004769" y="1131999"/>
            <a:ext cx="2268074" cy="265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6"/>
              </a:lnSpc>
            </a:pPr>
            <a:r>
              <a:rPr lang="en-US" sz="16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Gender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8435889" y="1131999"/>
            <a:ext cx="2268074" cy="265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6"/>
              </a:lnSpc>
            </a:pPr>
            <a:r>
              <a:rPr lang="en-US" sz="16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Institutional Advisor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6657" y="371599"/>
            <a:ext cx="11518686" cy="6114802"/>
            <a:chOff x="0" y="0"/>
            <a:chExt cx="4550592" cy="24157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50592" cy="2415724"/>
            </a:xfrm>
            <a:custGeom>
              <a:avLst/>
              <a:gdLst/>
              <a:ahLst/>
              <a:cxnLst/>
              <a:rect r="r" b="b" t="t" l="l"/>
              <a:pathLst>
                <a:path h="2415724" w="4550592">
                  <a:moveTo>
                    <a:pt x="0" y="0"/>
                  </a:moveTo>
                  <a:lnTo>
                    <a:pt x="4550592" y="0"/>
                  </a:lnTo>
                  <a:lnTo>
                    <a:pt x="4550592" y="2415724"/>
                  </a:lnTo>
                  <a:lnTo>
                    <a:pt x="0" y="24157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550592" cy="2444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00459" y="1044780"/>
            <a:ext cx="10991082" cy="1101622"/>
            <a:chOff x="0" y="0"/>
            <a:chExt cx="4311044" cy="4320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1044" cy="432091"/>
            </a:xfrm>
            <a:custGeom>
              <a:avLst/>
              <a:gdLst/>
              <a:ahLst/>
              <a:cxnLst/>
              <a:rect r="r" b="b" t="t" l="l"/>
              <a:pathLst>
                <a:path h="432091" w="4311044">
                  <a:moveTo>
                    <a:pt x="0" y="0"/>
                  </a:moveTo>
                  <a:lnTo>
                    <a:pt x="4311044" y="0"/>
                  </a:lnTo>
                  <a:lnTo>
                    <a:pt x="4311044" y="432091"/>
                  </a:lnTo>
                  <a:lnTo>
                    <a:pt x="0" y="43209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1044" cy="4701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48311" y="431215"/>
            <a:ext cx="4043230" cy="509170"/>
            <a:chOff x="0" y="0"/>
            <a:chExt cx="1585881" cy="199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85881" cy="199712"/>
            </a:xfrm>
            <a:custGeom>
              <a:avLst/>
              <a:gdLst/>
              <a:ahLst/>
              <a:cxnLst/>
              <a:rect r="r" b="b" t="t" l="l"/>
              <a:pathLst>
                <a:path h="199712" w="1585881">
                  <a:moveTo>
                    <a:pt x="0" y="0"/>
                  </a:moveTo>
                  <a:lnTo>
                    <a:pt x="1585881" y="0"/>
                  </a:lnTo>
                  <a:lnTo>
                    <a:pt x="1585881" y="199712"/>
                  </a:lnTo>
                  <a:lnTo>
                    <a:pt x="0" y="1997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85881" cy="237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00459" y="2207441"/>
            <a:ext cx="2774525" cy="1164409"/>
            <a:chOff x="0" y="0"/>
            <a:chExt cx="1088255" cy="45671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88255" cy="456717"/>
            </a:xfrm>
            <a:custGeom>
              <a:avLst/>
              <a:gdLst/>
              <a:ahLst/>
              <a:cxnLst/>
              <a:rect r="r" b="b" t="t" l="l"/>
              <a:pathLst>
                <a:path h="456717" w="1088255">
                  <a:moveTo>
                    <a:pt x="0" y="0"/>
                  </a:moveTo>
                  <a:lnTo>
                    <a:pt x="1088255" y="0"/>
                  </a:lnTo>
                  <a:lnTo>
                    <a:pt x="1088255" y="456717"/>
                  </a:lnTo>
                  <a:lnTo>
                    <a:pt x="0" y="4567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88255" cy="494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817487" y="2207441"/>
            <a:ext cx="2774054" cy="4215435"/>
            <a:chOff x="0" y="0"/>
            <a:chExt cx="1088070" cy="16534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88070" cy="1653425"/>
            </a:xfrm>
            <a:custGeom>
              <a:avLst/>
              <a:gdLst/>
              <a:ahLst/>
              <a:cxnLst/>
              <a:rect r="r" b="b" t="t" l="l"/>
              <a:pathLst>
                <a:path h="1653425" w="1088070">
                  <a:moveTo>
                    <a:pt x="0" y="0"/>
                  </a:moveTo>
                  <a:lnTo>
                    <a:pt x="1088070" y="0"/>
                  </a:lnTo>
                  <a:lnTo>
                    <a:pt x="1088070" y="1653425"/>
                  </a:lnTo>
                  <a:lnTo>
                    <a:pt x="0" y="16534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88070" cy="1691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439685" y="2207441"/>
            <a:ext cx="2738619" cy="1158772"/>
            <a:chOff x="0" y="0"/>
            <a:chExt cx="1074171" cy="45450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4171" cy="454507"/>
            </a:xfrm>
            <a:custGeom>
              <a:avLst/>
              <a:gdLst/>
              <a:ahLst/>
              <a:cxnLst/>
              <a:rect r="r" b="b" t="t" l="l"/>
              <a:pathLst>
                <a:path h="454507" w="1074171">
                  <a:moveTo>
                    <a:pt x="0" y="0"/>
                  </a:moveTo>
                  <a:lnTo>
                    <a:pt x="1074171" y="0"/>
                  </a:lnTo>
                  <a:lnTo>
                    <a:pt x="1074171" y="454507"/>
                  </a:lnTo>
                  <a:lnTo>
                    <a:pt x="0" y="4545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74171" cy="492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263823" y="2207441"/>
            <a:ext cx="2469131" cy="2086821"/>
            <a:chOff x="0" y="0"/>
            <a:chExt cx="968470" cy="8185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68470" cy="818516"/>
            </a:xfrm>
            <a:custGeom>
              <a:avLst/>
              <a:gdLst/>
              <a:ahLst/>
              <a:cxnLst/>
              <a:rect r="r" b="b" t="t" l="l"/>
              <a:pathLst>
                <a:path h="818516" w="968470">
                  <a:moveTo>
                    <a:pt x="0" y="0"/>
                  </a:moveTo>
                  <a:lnTo>
                    <a:pt x="968470" y="0"/>
                  </a:lnTo>
                  <a:lnTo>
                    <a:pt x="968470" y="818516"/>
                  </a:lnTo>
                  <a:lnTo>
                    <a:pt x="0" y="8185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68470" cy="8566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245965" y="4412255"/>
            <a:ext cx="2486989" cy="2010621"/>
            <a:chOff x="0" y="0"/>
            <a:chExt cx="975474" cy="78862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75474" cy="788628"/>
            </a:xfrm>
            <a:custGeom>
              <a:avLst/>
              <a:gdLst/>
              <a:ahLst/>
              <a:cxnLst/>
              <a:rect r="r" b="b" t="t" l="l"/>
              <a:pathLst>
                <a:path h="788628" w="975474">
                  <a:moveTo>
                    <a:pt x="0" y="0"/>
                  </a:moveTo>
                  <a:lnTo>
                    <a:pt x="975474" y="0"/>
                  </a:lnTo>
                  <a:lnTo>
                    <a:pt x="975474" y="788628"/>
                  </a:lnTo>
                  <a:lnTo>
                    <a:pt x="0" y="7886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75474" cy="8267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00459" y="3429000"/>
            <a:ext cx="2774525" cy="1151012"/>
            <a:chOff x="0" y="0"/>
            <a:chExt cx="1088255" cy="45146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88255" cy="451463"/>
            </a:xfrm>
            <a:custGeom>
              <a:avLst/>
              <a:gdLst/>
              <a:ahLst/>
              <a:cxnLst/>
              <a:rect r="r" b="b" t="t" l="l"/>
              <a:pathLst>
                <a:path h="451463" w="1088255">
                  <a:moveTo>
                    <a:pt x="0" y="0"/>
                  </a:moveTo>
                  <a:lnTo>
                    <a:pt x="1088255" y="0"/>
                  </a:lnTo>
                  <a:lnTo>
                    <a:pt x="1088255" y="451463"/>
                  </a:lnTo>
                  <a:lnTo>
                    <a:pt x="0" y="4514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088255" cy="489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439685" y="3423363"/>
            <a:ext cx="2768186" cy="1156649"/>
            <a:chOff x="0" y="0"/>
            <a:chExt cx="1085769" cy="45367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85769" cy="453674"/>
            </a:xfrm>
            <a:custGeom>
              <a:avLst/>
              <a:gdLst/>
              <a:ahLst/>
              <a:cxnLst/>
              <a:rect r="r" b="b" t="t" l="l"/>
              <a:pathLst>
                <a:path h="453674" w="1085769">
                  <a:moveTo>
                    <a:pt x="0" y="0"/>
                  </a:moveTo>
                  <a:lnTo>
                    <a:pt x="1085769" y="0"/>
                  </a:lnTo>
                  <a:lnTo>
                    <a:pt x="1085769" y="453674"/>
                  </a:lnTo>
                  <a:lnTo>
                    <a:pt x="0" y="4536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085769" cy="491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23868" y="4636713"/>
            <a:ext cx="5538346" cy="1768429"/>
            <a:chOff x="0" y="0"/>
            <a:chExt cx="2172312" cy="69363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72312" cy="693633"/>
            </a:xfrm>
            <a:custGeom>
              <a:avLst/>
              <a:gdLst/>
              <a:ahLst/>
              <a:cxnLst/>
              <a:rect r="r" b="b" t="t" l="l"/>
              <a:pathLst>
                <a:path h="693633" w="2172312">
                  <a:moveTo>
                    <a:pt x="0" y="0"/>
                  </a:moveTo>
                  <a:lnTo>
                    <a:pt x="2172312" y="0"/>
                  </a:lnTo>
                  <a:lnTo>
                    <a:pt x="2172312" y="693633"/>
                  </a:lnTo>
                  <a:lnTo>
                    <a:pt x="0" y="6936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172312" cy="731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858362" y="431215"/>
            <a:ext cx="1950388" cy="453649"/>
            <a:chOff x="0" y="0"/>
            <a:chExt cx="765003" cy="17793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65003" cy="177935"/>
            </a:xfrm>
            <a:custGeom>
              <a:avLst/>
              <a:gdLst/>
              <a:ahLst/>
              <a:cxnLst/>
              <a:rect r="r" b="b" t="t" l="l"/>
              <a:pathLst>
                <a:path h="177935" w="765003">
                  <a:moveTo>
                    <a:pt x="0" y="0"/>
                  </a:moveTo>
                  <a:lnTo>
                    <a:pt x="765003" y="0"/>
                  </a:lnTo>
                  <a:lnTo>
                    <a:pt x="765003" y="177935"/>
                  </a:lnTo>
                  <a:lnTo>
                    <a:pt x="0" y="17793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765003" cy="206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r>
                <a:rPr lang="en-US" b="true" sz="13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DEPOSIT ANALYSDIS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85800" y="473136"/>
            <a:ext cx="1206671" cy="447820"/>
            <a:chOff x="0" y="0"/>
            <a:chExt cx="476710" cy="17691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76710" cy="176916"/>
            </a:xfrm>
            <a:custGeom>
              <a:avLst/>
              <a:gdLst/>
              <a:ahLst/>
              <a:cxnLst/>
              <a:rect r="r" b="b" t="t" l="l"/>
              <a:pathLst>
                <a:path h="176916" w="476710">
                  <a:moveTo>
                    <a:pt x="0" y="0"/>
                  </a:moveTo>
                  <a:lnTo>
                    <a:pt x="476710" y="0"/>
                  </a:lnTo>
                  <a:lnTo>
                    <a:pt x="476710" y="176916"/>
                  </a:lnTo>
                  <a:lnTo>
                    <a:pt x="0" y="17691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476710" cy="205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  <a:r>
                <a:rPr lang="en-US" b="true" sz="161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HOME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268284" y="2315458"/>
            <a:ext cx="1514176" cy="265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6"/>
              </a:lnSpc>
            </a:pPr>
            <a:r>
              <a:rPr lang="en-US" sz="16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Total Deposit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846381" y="486079"/>
            <a:ext cx="2011982" cy="434876"/>
            <a:chOff x="0" y="0"/>
            <a:chExt cx="794857" cy="17180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94857" cy="171803"/>
            </a:xfrm>
            <a:custGeom>
              <a:avLst/>
              <a:gdLst/>
              <a:ahLst/>
              <a:cxnLst/>
              <a:rect r="r" b="b" t="t" l="l"/>
              <a:pathLst>
                <a:path h="171803" w="794857">
                  <a:moveTo>
                    <a:pt x="0" y="0"/>
                  </a:moveTo>
                  <a:lnTo>
                    <a:pt x="794857" y="0"/>
                  </a:lnTo>
                  <a:lnTo>
                    <a:pt x="794857" y="171803"/>
                  </a:lnTo>
                  <a:lnTo>
                    <a:pt x="0" y="17180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794857" cy="200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  <a:r>
                <a:rPr lang="en-US" b="true" sz="161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LOAN ANALYSIS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075195" y="431215"/>
            <a:ext cx="1206671" cy="447820"/>
            <a:chOff x="0" y="0"/>
            <a:chExt cx="476710" cy="17691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76710" cy="176916"/>
            </a:xfrm>
            <a:custGeom>
              <a:avLst/>
              <a:gdLst/>
              <a:ahLst/>
              <a:cxnLst/>
              <a:rect r="r" b="b" t="t" l="l"/>
              <a:pathLst>
                <a:path h="176916" w="476710">
                  <a:moveTo>
                    <a:pt x="0" y="0"/>
                  </a:moveTo>
                  <a:lnTo>
                    <a:pt x="476710" y="0"/>
                  </a:lnTo>
                  <a:lnTo>
                    <a:pt x="476710" y="176916"/>
                  </a:lnTo>
                  <a:lnTo>
                    <a:pt x="0" y="17691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476710" cy="205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16"/>
                </a:lnSpc>
              </a:pPr>
              <a:r>
                <a:rPr lang="en-US" b="true" sz="151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SUMMARY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3393041" y="3519290"/>
            <a:ext cx="2881031" cy="265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3"/>
              </a:lnSpc>
            </a:pPr>
            <a:r>
              <a:rPr lang="en-US" sz="155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Checking Account Amount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58891" y="3518613"/>
            <a:ext cx="2528394" cy="265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6"/>
              </a:lnSpc>
            </a:pPr>
            <a:r>
              <a:rPr lang="en-US" sz="16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Saving Account Amount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3979783" y="2309821"/>
            <a:ext cx="1466576" cy="265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6"/>
              </a:lnSpc>
            </a:pPr>
            <a:r>
              <a:rPr lang="en-US" sz="16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Bank Deposit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476445" y="2324375"/>
            <a:ext cx="1959444" cy="25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6"/>
              </a:lnSpc>
            </a:pPr>
            <a:r>
              <a:rPr lang="en-US" sz="15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Bank Depositby BR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32649" y="4740172"/>
            <a:ext cx="3064120" cy="264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7"/>
              </a:lnSpc>
            </a:pPr>
            <a:r>
              <a:rPr lang="en-US" sz="159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Bank Deposit By Income Band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304851" y="4551437"/>
            <a:ext cx="2369218" cy="233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6"/>
              </a:lnSpc>
            </a:pPr>
            <a:r>
              <a:rPr lang="en-US" sz="134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Bank Deposit By Nationality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8946018" y="2367828"/>
            <a:ext cx="2516992" cy="23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1"/>
              </a:lnSpc>
            </a:pPr>
            <a:r>
              <a:rPr lang="en-US" sz="140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Bank Deposit by Occupation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38195" y="1131999"/>
            <a:ext cx="2268074" cy="265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6"/>
              </a:lnSpc>
            </a:pPr>
            <a:r>
              <a:rPr lang="en-US" sz="16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Banking Relationship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004769" y="1131999"/>
            <a:ext cx="2268074" cy="265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6"/>
              </a:lnSpc>
            </a:pPr>
            <a:r>
              <a:rPr lang="en-US" sz="16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Gender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435889" y="1131999"/>
            <a:ext cx="2268074" cy="265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6"/>
              </a:lnSpc>
            </a:pPr>
            <a:r>
              <a:rPr lang="en-US" sz="16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Institutional Advisor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3979783" y="473136"/>
            <a:ext cx="1912397" cy="453649"/>
            <a:chOff x="0" y="0"/>
            <a:chExt cx="750102" cy="17793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50102" cy="177935"/>
            </a:xfrm>
            <a:custGeom>
              <a:avLst/>
              <a:gdLst/>
              <a:ahLst/>
              <a:cxnLst/>
              <a:rect r="r" b="b" t="t" l="l"/>
              <a:pathLst>
                <a:path h="177935" w="750102">
                  <a:moveTo>
                    <a:pt x="0" y="0"/>
                  </a:moveTo>
                  <a:lnTo>
                    <a:pt x="750102" y="0"/>
                  </a:lnTo>
                  <a:lnTo>
                    <a:pt x="750102" y="177935"/>
                  </a:lnTo>
                  <a:lnTo>
                    <a:pt x="0" y="177935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73737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750102" cy="206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r>
                <a:rPr lang="en-US" b="true" sz="13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DEPOSITE ANALYSIS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1254" y="226520"/>
            <a:ext cx="11722592" cy="6424349"/>
            <a:chOff x="0" y="0"/>
            <a:chExt cx="4631147" cy="25380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31147" cy="2538014"/>
            </a:xfrm>
            <a:custGeom>
              <a:avLst/>
              <a:gdLst/>
              <a:ahLst/>
              <a:cxnLst/>
              <a:rect r="r" b="b" t="t" l="l"/>
              <a:pathLst>
                <a:path h="2538014" w="4631147">
                  <a:moveTo>
                    <a:pt x="0" y="0"/>
                  </a:moveTo>
                  <a:lnTo>
                    <a:pt x="4631147" y="0"/>
                  </a:lnTo>
                  <a:lnTo>
                    <a:pt x="4631147" y="2538014"/>
                  </a:lnTo>
                  <a:lnTo>
                    <a:pt x="0" y="25380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631147" cy="25665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2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00459" y="367832"/>
            <a:ext cx="1106328" cy="447820"/>
            <a:chOff x="0" y="0"/>
            <a:chExt cx="437068" cy="1769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7068" cy="176916"/>
            </a:xfrm>
            <a:custGeom>
              <a:avLst/>
              <a:gdLst/>
              <a:ahLst/>
              <a:cxnLst/>
              <a:rect r="r" b="b" t="t" l="l"/>
              <a:pathLst>
                <a:path h="176916" w="437068">
                  <a:moveTo>
                    <a:pt x="0" y="0"/>
                  </a:moveTo>
                  <a:lnTo>
                    <a:pt x="437068" y="0"/>
                  </a:lnTo>
                  <a:lnTo>
                    <a:pt x="437068" y="176916"/>
                  </a:lnTo>
                  <a:lnTo>
                    <a:pt x="0" y="17691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37068" cy="205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6"/>
                </a:lnSpc>
              </a:pPr>
              <a:r>
                <a:rPr lang="en-US" b="true" sz="161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HOME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402237" y="266809"/>
            <a:ext cx="2016602" cy="649867"/>
            <a:chOff x="0" y="0"/>
            <a:chExt cx="796682" cy="2567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96682" cy="256738"/>
            </a:xfrm>
            <a:custGeom>
              <a:avLst/>
              <a:gdLst/>
              <a:ahLst/>
              <a:cxnLst/>
              <a:rect r="r" b="b" t="t" l="l"/>
              <a:pathLst>
                <a:path h="256738" w="796682">
                  <a:moveTo>
                    <a:pt x="0" y="0"/>
                  </a:moveTo>
                  <a:lnTo>
                    <a:pt x="796682" y="0"/>
                  </a:lnTo>
                  <a:lnTo>
                    <a:pt x="796682" y="256738"/>
                  </a:lnTo>
                  <a:lnTo>
                    <a:pt x="0" y="25673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796682" cy="285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16"/>
                </a:lnSpc>
              </a:pPr>
              <a:r>
                <a:rPr lang="en-US" b="true" sz="151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DEPOSIT ANALYSIS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49071" y="367832"/>
            <a:ext cx="1752399" cy="447820"/>
            <a:chOff x="0" y="0"/>
            <a:chExt cx="692306" cy="1769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2306" cy="176916"/>
            </a:xfrm>
            <a:custGeom>
              <a:avLst/>
              <a:gdLst/>
              <a:ahLst/>
              <a:cxnLst/>
              <a:rect r="r" b="b" t="t" l="l"/>
              <a:pathLst>
                <a:path h="176916" w="692306">
                  <a:moveTo>
                    <a:pt x="0" y="0"/>
                  </a:moveTo>
                  <a:lnTo>
                    <a:pt x="692306" y="0"/>
                  </a:lnTo>
                  <a:lnTo>
                    <a:pt x="692306" y="176916"/>
                  </a:lnTo>
                  <a:lnTo>
                    <a:pt x="0" y="17691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692306" cy="205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16"/>
                </a:lnSpc>
              </a:pPr>
              <a:r>
                <a:rPr lang="en-US" b="true" sz="151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LOAN ANALYSIS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00459" y="977577"/>
            <a:ext cx="10991082" cy="1160829"/>
            <a:chOff x="0" y="0"/>
            <a:chExt cx="4311044" cy="45531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11044" cy="455313"/>
            </a:xfrm>
            <a:custGeom>
              <a:avLst/>
              <a:gdLst/>
              <a:ahLst/>
              <a:cxnLst/>
              <a:rect r="r" b="b" t="t" l="l"/>
              <a:pathLst>
                <a:path h="455313" w="4311044">
                  <a:moveTo>
                    <a:pt x="0" y="0"/>
                  </a:moveTo>
                  <a:lnTo>
                    <a:pt x="4311044" y="0"/>
                  </a:lnTo>
                  <a:lnTo>
                    <a:pt x="4311044" y="455313"/>
                  </a:lnTo>
                  <a:lnTo>
                    <a:pt x="0" y="4553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311044" cy="4934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809798" y="337157"/>
            <a:ext cx="4781743" cy="509170"/>
            <a:chOff x="0" y="0"/>
            <a:chExt cx="1875548" cy="19971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75548" cy="199712"/>
            </a:xfrm>
            <a:custGeom>
              <a:avLst/>
              <a:gdLst/>
              <a:ahLst/>
              <a:cxnLst/>
              <a:rect r="r" b="b" t="t" l="l"/>
              <a:pathLst>
                <a:path h="199712" w="1875548">
                  <a:moveTo>
                    <a:pt x="0" y="0"/>
                  </a:moveTo>
                  <a:lnTo>
                    <a:pt x="1875548" y="0"/>
                  </a:lnTo>
                  <a:lnTo>
                    <a:pt x="1875548" y="199712"/>
                  </a:lnTo>
                  <a:lnTo>
                    <a:pt x="0" y="1997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875548" cy="237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03135" y="2281281"/>
            <a:ext cx="2655461" cy="1306456"/>
            <a:chOff x="0" y="0"/>
            <a:chExt cx="1041554" cy="5124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1554" cy="512433"/>
            </a:xfrm>
            <a:custGeom>
              <a:avLst/>
              <a:gdLst/>
              <a:ahLst/>
              <a:cxnLst/>
              <a:rect r="r" b="b" t="t" l="l"/>
              <a:pathLst>
                <a:path h="512433" w="1041554">
                  <a:moveTo>
                    <a:pt x="0" y="0"/>
                  </a:moveTo>
                  <a:lnTo>
                    <a:pt x="1041554" y="0"/>
                  </a:lnTo>
                  <a:lnTo>
                    <a:pt x="1041554" y="512433"/>
                  </a:lnTo>
                  <a:lnTo>
                    <a:pt x="0" y="5124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41554" cy="550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402237" y="2281281"/>
            <a:ext cx="2655461" cy="1306456"/>
            <a:chOff x="0" y="0"/>
            <a:chExt cx="1041554" cy="51243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41554" cy="512433"/>
            </a:xfrm>
            <a:custGeom>
              <a:avLst/>
              <a:gdLst/>
              <a:ahLst/>
              <a:cxnLst/>
              <a:rect r="r" b="b" t="t" l="l"/>
              <a:pathLst>
                <a:path h="512433" w="1041554">
                  <a:moveTo>
                    <a:pt x="0" y="0"/>
                  </a:moveTo>
                  <a:lnTo>
                    <a:pt x="1041554" y="0"/>
                  </a:lnTo>
                  <a:lnTo>
                    <a:pt x="1041554" y="512433"/>
                  </a:lnTo>
                  <a:lnTo>
                    <a:pt x="0" y="5124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41554" cy="550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</a:p>
            <a:p>
              <a:pPr algn="ctr">
                <a:lnSpc>
                  <a:spcPts val="1819"/>
                </a:lnSpc>
              </a:pPr>
            </a:p>
            <a:p>
              <a:pPr algn="ctr">
                <a:lnSpc>
                  <a:spcPts val="181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201339" y="2281281"/>
            <a:ext cx="2655461" cy="1306456"/>
            <a:chOff x="0" y="0"/>
            <a:chExt cx="1041554" cy="51243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41554" cy="512433"/>
            </a:xfrm>
            <a:custGeom>
              <a:avLst/>
              <a:gdLst/>
              <a:ahLst/>
              <a:cxnLst/>
              <a:rect r="r" b="b" t="t" l="l"/>
              <a:pathLst>
                <a:path h="512433" w="1041554">
                  <a:moveTo>
                    <a:pt x="0" y="0"/>
                  </a:moveTo>
                  <a:lnTo>
                    <a:pt x="1041554" y="0"/>
                  </a:lnTo>
                  <a:lnTo>
                    <a:pt x="1041554" y="512433"/>
                  </a:lnTo>
                  <a:lnTo>
                    <a:pt x="0" y="5124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041554" cy="550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999675" y="2271756"/>
            <a:ext cx="2591866" cy="1306456"/>
            <a:chOff x="0" y="0"/>
            <a:chExt cx="1016610" cy="51243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16610" cy="512433"/>
            </a:xfrm>
            <a:custGeom>
              <a:avLst/>
              <a:gdLst/>
              <a:ahLst/>
              <a:cxnLst/>
              <a:rect r="r" b="b" t="t" l="l"/>
              <a:pathLst>
                <a:path h="512433" w="1016610">
                  <a:moveTo>
                    <a:pt x="0" y="0"/>
                  </a:moveTo>
                  <a:lnTo>
                    <a:pt x="1016610" y="0"/>
                  </a:lnTo>
                  <a:lnTo>
                    <a:pt x="1016610" y="512433"/>
                  </a:lnTo>
                  <a:lnTo>
                    <a:pt x="0" y="5124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016610" cy="550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026679" y="5210906"/>
            <a:ext cx="2576047" cy="1283462"/>
            <a:chOff x="0" y="0"/>
            <a:chExt cx="1010406" cy="50341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10406" cy="503414"/>
            </a:xfrm>
            <a:custGeom>
              <a:avLst/>
              <a:gdLst/>
              <a:ahLst/>
              <a:cxnLst/>
              <a:rect r="r" b="b" t="t" l="l"/>
              <a:pathLst>
                <a:path h="503414" w="1010406">
                  <a:moveTo>
                    <a:pt x="0" y="0"/>
                  </a:moveTo>
                  <a:lnTo>
                    <a:pt x="1010406" y="0"/>
                  </a:lnTo>
                  <a:lnTo>
                    <a:pt x="1010406" y="503414"/>
                  </a:lnTo>
                  <a:lnTo>
                    <a:pt x="0" y="5034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10406" cy="541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999675" y="3730612"/>
            <a:ext cx="2603051" cy="1333077"/>
            <a:chOff x="0" y="0"/>
            <a:chExt cx="1020998" cy="52287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20998" cy="522874"/>
            </a:xfrm>
            <a:custGeom>
              <a:avLst/>
              <a:gdLst/>
              <a:ahLst/>
              <a:cxnLst/>
              <a:rect r="r" b="b" t="t" l="l"/>
              <a:pathLst>
                <a:path h="522874" w="1020998">
                  <a:moveTo>
                    <a:pt x="0" y="0"/>
                  </a:moveTo>
                  <a:lnTo>
                    <a:pt x="1020998" y="0"/>
                  </a:lnTo>
                  <a:lnTo>
                    <a:pt x="1020998" y="522874"/>
                  </a:lnTo>
                  <a:lnTo>
                    <a:pt x="0" y="5228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20998" cy="560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201339" y="3730612"/>
            <a:ext cx="2655461" cy="1333077"/>
            <a:chOff x="0" y="0"/>
            <a:chExt cx="1041554" cy="52287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41554" cy="522874"/>
            </a:xfrm>
            <a:custGeom>
              <a:avLst/>
              <a:gdLst/>
              <a:ahLst/>
              <a:cxnLst/>
              <a:rect r="r" b="b" t="t" l="l"/>
              <a:pathLst>
                <a:path h="522874" w="1041554">
                  <a:moveTo>
                    <a:pt x="0" y="0"/>
                  </a:moveTo>
                  <a:lnTo>
                    <a:pt x="1041554" y="0"/>
                  </a:lnTo>
                  <a:lnTo>
                    <a:pt x="1041554" y="522874"/>
                  </a:lnTo>
                  <a:lnTo>
                    <a:pt x="0" y="5228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041554" cy="560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200573" y="5197039"/>
            <a:ext cx="2656227" cy="1283462"/>
            <a:chOff x="0" y="0"/>
            <a:chExt cx="1041855" cy="50341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41855" cy="503414"/>
            </a:xfrm>
            <a:custGeom>
              <a:avLst/>
              <a:gdLst/>
              <a:ahLst/>
              <a:cxnLst/>
              <a:rect r="r" b="b" t="t" l="l"/>
              <a:pathLst>
                <a:path h="503414" w="1041855">
                  <a:moveTo>
                    <a:pt x="0" y="0"/>
                  </a:moveTo>
                  <a:lnTo>
                    <a:pt x="1041855" y="0"/>
                  </a:lnTo>
                  <a:lnTo>
                    <a:pt x="1041855" y="503414"/>
                  </a:lnTo>
                  <a:lnTo>
                    <a:pt x="0" y="5034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041855" cy="541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3401471" y="3730612"/>
            <a:ext cx="2655461" cy="1333077"/>
            <a:chOff x="0" y="0"/>
            <a:chExt cx="1041554" cy="52287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41554" cy="522874"/>
            </a:xfrm>
            <a:custGeom>
              <a:avLst/>
              <a:gdLst/>
              <a:ahLst/>
              <a:cxnLst/>
              <a:rect r="r" b="b" t="t" l="l"/>
              <a:pathLst>
                <a:path h="522874" w="1041554">
                  <a:moveTo>
                    <a:pt x="0" y="0"/>
                  </a:moveTo>
                  <a:lnTo>
                    <a:pt x="1041554" y="0"/>
                  </a:lnTo>
                  <a:lnTo>
                    <a:pt x="1041554" y="522874"/>
                  </a:lnTo>
                  <a:lnTo>
                    <a:pt x="0" y="5228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041554" cy="560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</a:p>
            <a:p>
              <a:pPr algn="ctr">
                <a:lnSpc>
                  <a:spcPts val="1819"/>
                </a:lnSpc>
              </a:pPr>
            </a:p>
            <a:p>
              <a:pPr algn="ctr">
                <a:lnSpc>
                  <a:spcPts val="181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3402237" y="5210906"/>
            <a:ext cx="2655461" cy="1283462"/>
            <a:chOff x="0" y="0"/>
            <a:chExt cx="1041554" cy="50341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41554" cy="503414"/>
            </a:xfrm>
            <a:custGeom>
              <a:avLst/>
              <a:gdLst/>
              <a:ahLst/>
              <a:cxnLst/>
              <a:rect r="r" b="b" t="t" l="l"/>
              <a:pathLst>
                <a:path h="503414" w="1041554">
                  <a:moveTo>
                    <a:pt x="0" y="0"/>
                  </a:moveTo>
                  <a:lnTo>
                    <a:pt x="1041554" y="0"/>
                  </a:lnTo>
                  <a:lnTo>
                    <a:pt x="1041554" y="503414"/>
                  </a:lnTo>
                  <a:lnTo>
                    <a:pt x="0" y="5034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041554" cy="541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</a:p>
            <a:p>
              <a:pPr algn="ctr">
                <a:lnSpc>
                  <a:spcPts val="1819"/>
                </a:lnSpc>
              </a:pPr>
            </a:p>
            <a:p>
              <a:pPr algn="ctr">
                <a:lnSpc>
                  <a:spcPts val="181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03135" y="3730612"/>
            <a:ext cx="2655461" cy="1333077"/>
            <a:chOff x="0" y="0"/>
            <a:chExt cx="1041554" cy="52287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41554" cy="522874"/>
            </a:xfrm>
            <a:custGeom>
              <a:avLst/>
              <a:gdLst/>
              <a:ahLst/>
              <a:cxnLst/>
              <a:rect r="r" b="b" t="t" l="l"/>
              <a:pathLst>
                <a:path h="522874" w="1041554">
                  <a:moveTo>
                    <a:pt x="0" y="0"/>
                  </a:moveTo>
                  <a:lnTo>
                    <a:pt x="1041554" y="0"/>
                  </a:lnTo>
                  <a:lnTo>
                    <a:pt x="1041554" y="522874"/>
                  </a:lnTo>
                  <a:lnTo>
                    <a:pt x="0" y="5228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041554" cy="560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03135" y="5210906"/>
            <a:ext cx="2655461" cy="1283462"/>
            <a:chOff x="0" y="0"/>
            <a:chExt cx="1041554" cy="50341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41554" cy="503414"/>
            </a:xfrm>
            <a:custGeom>
              <a:avLst/>
              <a:gdLst/>
              <a:ahLst/>
              <a:cxnLst/>
              <a:rect r="r" b="b" t="t" l="l"/>
              <a:pathLst>
                <a:path h="503414" w="1041554">
                  <a:moveTo>
                    <a:pt x="0" y="0"/>
                  </a:moveTo>
                  <a:lnTo>
                    <a:pt x="1041554" y="0"/>
                  </a:lnTo>
                  <a:lnTo>
                    <a:pt x="1041554" y="503414"/>
                  </a:lnTo>
                  <a:lnTo>
                    <a:pt x="0" y="5034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041554" cy="541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5577227" y="367832"/>
            <a:ext cx="1070646" cy="447820"/>
            <a:chOff x="0" y="0"/>
            <a:chExt cx="419941" cy="17564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19941" cy="175649"/>
            </a:xfrm>
            <a:custGeom>
              <a:avLst/>
              <a:gdLst/>
              <a:ahLst/>
              <a:cxnLst/>
              <a:rect r="r" b="b" t="t" l="l"/>
              <a:pathLst>
                <a:path h="175649" w="419941">
                  <a:moveTo>
                    <a:pt x="0" y="0"/>
                  </a:moveTo>
                  <a:lnTo>
                    <a:pt x="419941" y="0"/>
                  </a:lnTo>
                  <a:lnTo>
                    <a:pt x="419941" y="175649"/>
                  </a:lnTo>
                  <a:lnTo>
                    <a:pt x="0" y="175649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73737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419941" cy="204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r>
                <a:rPr lang="en-US" b="true" sz="13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SUMMARY</a:t>
              </a:r>
            </a:p>
          </p:txBody>
        </p:sp>
      </p:grpSp>
      <p:sp>
        <p:nvSpPr>
          <p:cNvPr name="Freeform 59" id="59"/>
          <p:cNvSpPr/>
          <p:nvPr/>
        </p:nvSpPr>
        <p:spPr>
          <a:xfrm flipH="false" flipV="false" rot="0">
            <a:off x="2323744" y="2924984"/>
            <a:ext cx="699357" cy="513710"/>
          </a:xfrm>
          <a:custGeom>
            <a:avLst/>
            <a:gdLst/>
            <a:ahLst/>
            <a:cxnLst/>
            <a:rect r="r" b="b" t="t" l="l"/>
            <a:pathLst>
              <a:path h="513710" w="699357">
                <a:moveTo>
                  <a:pt x="0" y="0"/>
                </a:moveTo>
                <a:lnTo>
                  <a:pt x="699358" y="0"/>
                </a:lnTo>
                <a:lnTo>
                  <a:pt x="699358" y="513710"/>
                </a:lnTo>
                <a:lnTo>
                  <a:pt x="0" y="513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2438044" y="4338887"/>
            <a:ext cx="615172" cy="615172"/>
          </a:xfrm>
          <a:custGeom>
            <a:avLst/>
            <a:gdLst/>
            <a:ahLst/>
            <a:cxnLst/>
            <a:rect r="r" b="b" t="t" l="l"/>
            <a:pathLst>
              <a:path h="615172" w="615172">
                <a:moveTo>
                  <a:pt x="0" y="0"/>
                </a:moveTo>
                <a:lnTo>
                  <a:pt x="615172" y="0"/>
                </a:lnTo>
                <a:lnTo>
                  <a:pt x="615172" y="615172"/>
                </a:lnTo>
                <a:lnTo>
                  <a:pt x="0" y="615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10876920" y="2887483"/>
            <a:ext cx="596301" cy="588712"/>
          </a:xfrm>
          <a:custGeom>
            <a:avLst/>
            <a:gdLst/>
            <a:ahLst/>
            <a:cxnLst/>
            <a:rect r="r" b="b" t="t" l="l"/>
            <a:pathLst>
              <a:path h="588712" w="596301">
                <a:moveTo>
                  <a:pt x="0" y="0"/>
                </a:moveTo>
                <a:lnTo>
                  <a:pt x="596301" y="0"/>
                </a:lnTo>
                <a:lnTo>
                  <a:pt x="596301" y="588712"/>
                </a:lnTo>
                <a:lnTo>
                  <a:pt x="0" y="5887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8114449" y="2772091"/>
            <a:ext cx="603632" cy="682296"/>
          </a:xfrm>
          <a:custGeom>
            <a:avLst/>
            <a:gdLst/>
            <a:ahLst/>
            <a:cxnLst/>
            <a:rect r="r" b="b" t="t" l="l"/>
            <a:pathLst>
              <a:path h="682296" w="603632">
                <a:moveTo>
                  <a:pt x="0" y="0"/>
                </a:moveTo>
                <a:lnTo>
                  <a:pt x="603631" y="0"/>
                </a:lnTo>
                <a:lnTo>
                  <a:pt x="603631" y="682296"/>
                </a:lnTo>
                <a:lnTo>
                  <a:pt x="0" y="6822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5235626" y="4263129"/>
            <a:ext cx="683202" cy="670780"/>
          </a:xfrm>
          <a:custGeom>
            <a:avLst/>
            <a:gdLst/>
            <a:ahLst/>
            <a:cxnLst/>
            <a:rect r="r" b="b" t="t" l="l"/>
            <a:pathLst>
              <a:path h="670780" w="683202">
                <a:moveTo>
                  <a:pt x="0" y="0"/>
                </a:moveTo>
                <a:lnTo>
                  <a:pt x="683202" y="0"/>
                </a:lnTo>
                <a:lnTo>
                  <a:pt x="683202" y="670780"/>
                </a:lnTo>
                <a:lnTo>
                  <a:pt x="0" y="6707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5227878" y="2871770"/>
            <a:ext cx="681795" cy="595021"/>
          </a:xfrm>
          <a:custGeom>
            <a:avLst/>
            <a:gdLst/>
            <a:ahLst/>
            <a:cxnLst/>
            <a:rect r="r" b="b" t="t" l="l"/>
            <a:pathLst>
              <a:path h="595021" w="681795">
                <a:moveTo>
                  <a:pt x="0" y="0"/>
                </a:moveTo>
                <a:lnTo>
                  <a:pt x="681795" y="0"/>
                </a:lnTo>
                <a:lnTo>
                  <a:pt x="681795" y="595022"/>
                </a:lnTo>
                <a:lnTo>
                  <a:pt x="0" y="59502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7725658" y="5777789"/>
            <a:ext cx="992423" cy="518159"/>
          </a:xfrm>
          <a:custGeom>
            <a:avLst/>
            <a:gdLst/>
            <a:ahLst/>
            <a:cxnLst/>
            <a:rect r="r" b="b" t="t" l="l"/>
            <a:pathLst>
              <a:path h="518159" w="992423">
                <a:moveTo>
                  <a:pt x="0" y="0"/>
                </a:moveTo>
                <a:lnTo>
                  <a:pt x="992422" y="0"/>
                </a:lnTo>
                <a:lnTo>
                  <a:pt x="992422" y="518159"/>
                </a:lnTo>
                <a:lnTo>
                  <a:pt x="0" y="51815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7931905" y="4315496"/>
            <a:ext cx="786175" cy="566046"/>
          </a:xfrm>
          <a:custGeom>
            <a:avLst/>
            <a:gdLst/>
            <a:ahLst/>
            <a:cxnLst/>
            <a:rect r="r" b="b" t="t" l="l"/>
            <a:pathLst>
              <a:path h="566046" w="786175">
                <a:moveTo>
                  <a:pt x="0" y="0"/>
                </a:moveTo>
                <a:lnTo>
                  <a:pt x="786175" y="0"/>
                </a:lnTo>
                <a:lnTo>
                  <a:pt x="786175" y="566046"/>
                </a:lnTo>
                <a:lnTo>
                  <a:pt x="0" y="56604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2438044" y="5661689"/>
            <a:ext cx="699705" cy="699705"/>
          </a:xfrm>
          <a:custGeom>
            <a:avLst/>
            <a:gdLst/>
            <a:ahLst/>
            <a:cxnLst/>
            <a:rect r="r" b="b" t="t" l="l"/>
            <a:pathLst>
              <a:path h="699705" w="699705">
                <a:moveTo>
                  <a:pt x="0" y="0"/>
                </a:moveTo>
                <a:lnTo>
                  <a:pt x="699705" y="0"/>
                </a:lnTo>
                <a:lnTo>
                  <a:pt x="699705" y="699705"/>
                </a:lnTo>
                <a:lnTo>
                  <a:pt x="0" y="69970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5235626" y="5639826"/>
            <a:ext cx="738025" cy="743432"/>
          </a:xfrm>
          <a:custGeom>
            <a:avLst/>
            <a:gdLst/>
            <a:ahLst/>
            <a:cxnLst/>
            <a:rect r="r" b="b" t="t" l="l"/>
            <a:pathLst>
              <a:path h="743432" w="738025">
                <a:moveTo>
                  <a:pt x="0" y="0"/>
                </a:moveTo>
                <a:lnTo>
                  <a:pt x="738025" y="0"/>
                </a:lnTo>
                <a:lnTo>
                  <a:pt x="738025" y="743432"/>
                </a:lnTo>
                <a:lnTo>
                  <a:pt x="0" y="74343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10815419" y="4263129"/>
            <a:ext cx="657802" cy="657802"/>
          </a:xfrm>
          <a:custGeom>
            <a:avLst/>
            <a:gdLst/>
            <a:ahLst/>
            <a:cxnLst/>
            <a:rect r="r" b="b" t="t" l="l"/>
            <a:pathLst>
              <a:path h="657802" w="657802">
                <a:moveTo>
                  <a:pt x="0" y="0"/>
                </a:moveTo>
                <a:lnTo>
                  <a:pt x="657802" y="0"/>
                </a:lnTo>
                <a:lnTo>
                  <a:pt x="657802" y="657802"/>
                </a:lnTo>
                <a:lnTo>
                  <a:pt x="0" y="65780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10815419" y="5753845"/>
            <a:ext cx="617808" cy="566046"/>
          </a:xfrm>
          <a:custGeom>
            <a:avLst/>
            <a:gdLst/>
            <a:ahLst/>
            <a:cxnLst/>
            <a:rect r="r" b="b" t="t" l="l"/>
            <a:pathLst>
              <a:path h="566046" w="617808">
                <a:moveTo>
                  <a:pt x="0" y="0"/>
                </a:moveTo>
                <a:lnTo>
                  <a:pt x="617808" y="0"/>
                </a:lnTo>
                <a:lnTo>
                  <a:pt x="617808" y="566046"/>
                </a:lnTo>
                <a:lnTo>
                  <a:pt x="0" y="56604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1" id="71"/>
          <p:cNvSpPr txBox="true"/>
          <p:nvPr/>
        </p:nvSpPr>
        <p:spPr>
          <a:xfrm rot="0">
            <a:off x="1338195" y="1131999"/>
            <a:ext cx="2268074" cy="265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6"/>
              </a:lnSpc>
            </a:pPr>
            <a:r>
              <a:rPr lang="en-US" sz="16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Banking Relationship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5067302" y="1131999"/>
            <a:ext cx="2268074" cy="265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6"/>
              </a:lnSpc>
            </a:pPr>
            <a:r>
              <a:rPr lang="en-US" sz="16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Gender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8435889" y="1131999"/>
            <a:ext cx="2268074" cy="265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6"/>
              </a:lnSpc>
            </a:pPr>
            <a:r>
              <a:rPr lang="en-US" sz="16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Institutional Advisor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294623" y="2390516"/>
            <a:ext cx="1272486" cy="265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6"/>
              </a:lnSpc>
            </a:pPr>
            <a:r>
              <a:rPr lang="en-US" sz="16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Total Clients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6999180" y="2345441"/>
            <a:ext cx="1059013" cy="265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6"/>
              </a:lnSpc>
            </a:pPr>
            <a:r>
              <a:rPr lang="en-US" sz="16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Total Loan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4016197" y="2358303"/>
            <a:ext cx="1272486" cy="265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6"/>
              </a:lnSpc>
            </a:pPr>
            <a:r>
              <a:rPr lang="en-US" sz="16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Bank Loan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9381945" y="2345441"/>
            <a:ext cx="1793126" cy="265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6"/>
              </a:lnSpc>
            </a:pPr>
            <a:r>
              <a:rPr lang="en-US" sz="16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Business Lending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253253" y="3815896"/>
            <a:ext cx="1355224" cy="265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6"/>
              </a:lnSpc>
            </a:pPr>
            <a:r>
              <a:rPr lang="en-US" sz="16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Total Deposit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6755293" y="3815896"/>
            <a:ext cx="1466576" cy="265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6"/>
              </a:lnSpc>
            </a:pPr>
            <a:r>
              <a:rPr lang="en-US" sz="16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Bank Deposit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9129180" y="3838113"/>
            <a:ext cx="2344041" cy="230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5"/>
              </a:lnSpc>
            </a:pPr>
            <a:r>
              <a:rPr lang="en-US" sz="141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Checking Account Amount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039103" y="5311339"/>
            <a:ext cx="1783525" cy="265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6"/>
              </a:lnSpc>
            </a:pPr>
            <a:r>
              <a:rPr lang="en-US" sz="16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Total CC Amount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3465005" y="5311339"/>
            <a:ext cx="2528394" cy="265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6"/>
              </a:lnSpc>
            </a:pPr>
            <a:r>
              <a:rPr lang="en-US" sz="16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Saving Account Amount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9050506" y="5311339"/>
            <a:ext cx="2528394" cy="265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6"/>
              </a:lnSpc>
            </a:pPr>
            <a:r>
              <a:rPr lang="en-US" sz="16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Engagement Amount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4016197" y="3815896"/>
            <a:ext cx="1355224" cy="265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6"/>
              </a:lnSpc>
            </a:pPr>
            <a:r>
              <a:rPr lang="en-US" sz="16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Total Fees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6267248" y="5311339"/>
            <a:ext cx="2528394" cy="25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6"/>
              </a:lnSpc>
            </a:pPr>
            <a:r>
              <a:rPr lang="en-US" sz="15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Foriegn CurrencyAmount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DAG2DceMY88</dc:identifier>
  <dcterms:modified xsi:type="dcterms:W3CDTF">2011-08-01T06:04:30Z</dcterms:modified>
  <cp:revision>1</cp:revision>
  <dc:title>Banking Dashboard Pages</dc:title>
</cp:coreProperties>
</file>